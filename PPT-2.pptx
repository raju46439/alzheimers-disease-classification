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3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>
        <p:scale>
          <a:sx n="66" d="100"/>
          <a:sy n="66" d="100"/>
        </p:scale>
        <p:origin x="85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425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625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42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33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122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41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49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29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38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34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341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550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5447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2728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27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3250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71C4907-E8B0-4D3A-9351-FC9383A0549E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64F363D-B4B8-48B8-B0C3-3335A210E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596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accessgovernment.org/article/beyond-amyloid-alzheimers-disease-therapeutics-lecanamab/155628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FEE166-FFBC-4830-A8EC-4A2FE348E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453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DE1B17-B284-4D64-80D7-B8B82EB5BF1F}"/>
              </a:ext>
            </a:extLst>
          </p:cNvPr>
          <p:cNvSpPr/>
          <p:nvPr/>
        </p:nvSpPr>
        <p:spPr>
          <a:xfrm>
            <a:off x="23989" y="210861"/>
            <a:ext cx="795866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🧠 Alzheimer’s Disease Classification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DB21FD-F0C8-49D9-824A-25315903DA63}"/>
              </a:ext>
            </a:extLst>
          </p:cNvPr>
          <p:cNvSpPr/>
          <p:nvPr/>
        </p:nvSpPr>
        <p:spPr>
          <a:xfrm>
            <a:off x="5599289" y="469453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CB1453-CC99-47BD-9BB7-37485671392B}"/>
              </a:ext>
            </a:extLst>
          </p:cNvPr>
          <p:cNvSpPr/>
          <p:nvPr/>
        </p:nvSpPr>
        <p:spPr>
          <a:xfrm>
            <a:off x="8171744" y="4232869"/>
            <a:ext cx="26754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M. RAJU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7A6BA3-3C6F-4FA4-9E95-5EBE1EAE793B}"/>
              </a:ext>
            </a:extLst>
          </p:cNvPr>
          <p:cNvSpPr/>
          <p:nvPr/>
        </p:nvSpPr>
        <p:spPr>
          <a:xfrm>
            <a:off x="5904089" y="4999334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17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F52A-78AA-4C34-9AFC-4DF662AF0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977" y="1083734"/>
            <a:ext cx="3270290" cy="372533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53DF5-1B6A-4277-A556-A08DD2863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178" y="2366432"/>
            <a:ext cx="7540978" cy="401178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: Classification Models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&amp; Results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of the Application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41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C1CD-C00A-4B7D-B715-754D23DD2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255" y="732368"/>
            <a:ext cx="3226546" cy="70696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60E6A-55F4-404A-B54E-08289AE15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2603500"/>
            <a:ext cx="10859911" cy="3684412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of 2,149 patients with demographic, lifestyle, medical, and cognitive details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Classify patients into Alzheimer’s vs. non-Alzheimer’s groups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doctors and researchers identify Alzheimer’s patients early using patient health and lifestyle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risk factors like age, family history, medical conditions, and lifestyle habits.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predictive models that classify patients into Alzheimer’s vs. non-Alzheimer’s groups.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visual insights and an interactive app to make predictions accessible and easy to use.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healthcare planning and awareness for patients, families, and clinicians.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509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2AC3-1F33-4E79-9AE7-893969EC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55" y="706968"/>
            <a:ext cx="4534646" cy="70696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4206-B81F-4D97-8191-ADB663102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578" y="2603499"/>
            <a:ext cx="11176000" cy="3661833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(60–90), Gender, Ethnicity, Education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BMI, Smoking, Alcohol, Physical Activity, Diet, Sleep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Family history, Cardiovascular disease, Diabetes, Depression, Head injury, Hypertension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Measurements: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Blood pressure, Cholesterol (Total, LDL, HDL, Triglycerides)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&amp; Functional: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MMSE, Functional Assessment, ADL, Memory complaints,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Behavioral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Confusion, Disorientation, Personality changes, Forgetfulness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Alzheimer’s (1) / No Alzheimer’s (0)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44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2F99C-6ED7-4ACE-96AB-5B9F5D26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555" y="911578"/>
            <a:ext cx="3541224" cy="722489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Methodology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E8199-F63B-4BD2-8299-DD70C8BE3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263" y="2516011"/>
            <a:ext cx="6716317" cy="34163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(mean, median, standard deviation)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analysis (histograms, boxplots)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(heatmap)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MMSE strongly linked with diagnosis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factors (diet, sleep, activity) show protective trends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history (diabetes, hypertension) increases risk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3A417888-97E4-4A05-8358-50B51340A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580" y="2325832"/>
            <a:ext cx="4876800" cy="438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51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C187C-4EB7-4B62-87D5-18A40B7A8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1" y="973669"/>
            <a:ext cx="5727700" cy="512232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⚙️ Classification Methodology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62FC0-1582-479F-A6B0-14AEF6DC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90" y="2603500"/>
            <a:ext cx="11085688" cy="2995789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Regression, Random Forest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Accuracy, Precision, Recall, F1-score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Scaling, encoding categorical variables, handling missing values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Regression: Baseline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Forest: Best balance of accuracy &amp; interpretability</a:t>
            </a:r>
          </a:p>
        </p:txBody>
      </p:sp>
    </p:spTree>
    <p:extLst>
      <p:ext uri="{BB962C8B-B14F-4D97-AF65-F5344CB8AC3E}">
        <p14:creationId xmlns:p14="http://schemas.microsoft.com/office/powerpoint/2010/main" val="926404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F67A0-37E2-4147-B140-88C0B038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61" y="922868"/>
            <a:ext cx="4941046" cy="685799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Results &amp; Visualization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485C0-DA65-449B-A5D3-D89D1F905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609" y="2351342"/>
            <a:ext cx="10495721" cy="961702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- 100% accuracy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Predictors: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MMSE, Functional Assessment, Family History, Age, Sleep Quality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2A89F87-BB4B-43C9-BC93-2D6083FF8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8182546"/>
              </p:ext>
            </p:extLst>
          </p:nvPr>
        </p:nvGraphicFramePr>
        <p:xfrm>
          <a:off x="675861" y="3429000"/>
          <a:ext cx="1085353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71">
                  <a:extLst>
                    <a:ext uri="{9D8B030D-6E8A-4147-A177-3AD203B41FA5}">
                      <a16:colId xmlns:a16="http://schemas.microsoft.com/office/drawing/2014/main" val="685103308"/>
                    </a:ext>
                  </a:extLst>
                </a:gridCol>
                <a:gridCol w="2169172">
                  <a:extLst>
                    <a:ext uri="{9D8B030D-6E8A-4147-A177-3AD203B41FA5}">
                      <a16:colId xmlns:a16="http://schemas.microsoft.com/office/drawing/2014/main" val="1027732647"/>
                    </a:ext>
                  </a:extLst>
                </a:gridCol>
                <a:gridCol w="2149452">
                  <a:extLst>
                    <a:ext uri="{9D8B030D-6E8A-4147-A177-3AD203B41FA5}">
                      <a16:colId xmlns:a16="http://schemas.microsoft.com/office/drawing/2014/main" val="928181084"/>
                    </a:ext>
                  </a:extLst>
                </a:gridCol>
                <a:gridCol w="2031134">
                  <a:extLst>
                    <a:ext uri="{9D8B030D-6E8A-4147-A177-3AD203B41FA5}">
                      <a16:colId xmlns:a16="http://schemas.microsoft.com/office/drawing/2014/main" val="2303292770"/>
                    </a:ext>
                  </a:extLst>
                </a:gridCol>
                <a:gridCol w="2236001">
                  <a:extLst>
                    <a:ext uri="{9D8B030D-6E8A-4147-A177-3AD203B41FA5}">
                      <a16:colId xmlns:a16="http://schemas.microsoft.com/office/drawing/2014/main" val="1804881389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  <a:endParaRPr lang="en-IN" sz="15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RE-CALL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172584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1112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810719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609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33320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1719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517033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r>
                        <a:rPr lang="en-IN" sz="15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macro </a:t>
                      </a:r>
                      <a:r>
                        <a:rPr lang="en-IN" sz="15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IN" sz="15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1719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029891"/>
                  </a:ext>
                </a:extLst>
              </a:tr>
              <a:tr h="349343">
                <a:tc>
                  <a:txBody>
                    <a:bodyPr/>
                    <a:lstStyle/>
                    <a:p>
                      <a:r>
                        <a:rPr lang="en-IN" sz="15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weighted </a:t>
                      </a:r>
                      <a:r>
                        <a:rPr lang="en-IN" sz="15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avg</a:t>
                      </a:r>
                      <a:r>
                        <a:rPr lang="en-IN" sz="15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1719</a:t>
                      </a:r>
                      <a:endParaRPr lang="en-I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168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3152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542C-2F1A-45AA-BCDC-A3F7B68E6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103" y="668868"/>
            <a:ext cx="3049453" cy="866422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1BDDBB6-3B62-4D6D-91C2-76A3818D4B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77" y="3213098"/>
            <a:ext cx="3064931" cy="2976033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7062C8-FEBF-4545-A84D-4DFE47792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888" y="3213098"/>
            <a:ext cx="3064933" cy="297603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5614BC-6428-4E94-87BA-751375AA5876}"/>
              </a:ext>
            </a:extLst>
          </p:cNvPr>
          <p:cNvSpPr/>
          <p:nvPr/>
        </p:nvSpPr>
        <p:spPr>
          <a:xfrm>
            <a:off x="699911" y="2281747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 feature importance chart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6E2679-9D6F-491B-BCD5-E97EC78467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1" y="2635690"/>
            <a:ext cx="5396090" cy="378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4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4829-61A7-46AA-BB20-4731C1755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54" y="838200"/>
            <a:ext cx="3654113" cy="70696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DEPLOMENT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8E001-1A8F-4E9F-BB81-2961C90B0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03500"/>
            <a:ext cx="9337146" cy="34163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patient data → Predict Alzheimer’s risk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feature importance &amp; risk factors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interactive healthcare insights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71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EB94F-3430-4DB0-AB66-53C84A26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755" y="759179"/>
            <a:ext cx="2863889" cy="70696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088FD-0A49-4F58-8DEF-B5245C2A1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377" y="2298700"/>
            <a:ext cx="11029245" cy="418112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preprocessing medical datasets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 between cognitive scores and diagnosis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 factors play a measurable role in risk reduction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outperform simple classifiers</a:t>
            </a: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🔮 Future Scope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analysis with longitudinal patient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genetic and imaging biomarkers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(CNN/RNN) for advanced prediction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models in clinical decision support systems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12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F9A36-7440-4F95-870A-D4C121BB0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3405757" cy="70696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Conclusion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DA5B-D3B0-4460-9389-42C126E5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289" y="2603500"/>
            <a:ext cx="11085689" cy="230716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highlights key risk factors for Alzheimer’s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models achieved strong predictive performance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can support early detection, healthcare planning, and policy-making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app makes insights accessible to researchers &amp; clinicians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965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DA84C03-5F1E-43E4-A8EE-BB593F50D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23869" y="3238865"/>
            <a:ext cx="3489616" cy="861420"/>
          </a:xfrm>
        </p:spPr>
        <p:txBody>
          <a:bodyPr>
            <a:normAutofit/>
          </a:bodyPr>
          <a:lstStyle/>
          <a:p>
            <a:r>
              <a:rPr lang="en-US" sz="3200" i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200" i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399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151</TotalTime>
  <Words>516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Century Gothic</vt:lpstr>
      <vt:lpstr>Times New Roman</vt:lpstr>
      <vt:lpstr>Wingdings</vt:lpstr>
      <vt:lpstr>Wingdings 3</vt:lpstr>
      <vt:lpstr>Ion Boardroom</vt:lpstr>
      <vt:lpstr>PowerPoint Presentation</vt:lpstr>
      <vt:lpstr>AGENDA</vt:lpstr>
      <vt:lpstr>OBJECTIVE</vt:lpstr>
      <vt:lpstr>DATASET OVERVIEW</vt:lpstr>
      <vt:lpstr>EDA Methodology </vt:lpstr>
      <vt:lpstr>⚙️ Classification Methodology </vt:lpstr>
      <vt:lpstr>📈 Results &amp; Visualization </vt:lpstr>
      <vt:lpstr>Visualizations</vt:lpstr>
      <vt:lpstr>DEPLOMENT</vt:lpstr>
      <vt:lpstr>Learnings</vt:lpstr>
      <vt:lpstr>✅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I'M RAJU</dc:creator>
  <cp:lastModifiedBy>I'M RAJU</cp:lastModifiedBy>
  <cp:revision>17</cp:revision>
  <dcterms:created xsi:type="dcterms:W3CDTF">2025-11-22T08:14:33Z</dcterms:created>
  <dcterms:modified xsi:type="dcterms:W3CDTF">2025-12-13T07:23:19Z</dcterms:modified>
</cp:coreProperties>
</file>